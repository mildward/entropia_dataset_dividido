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6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ΣA − ΣB (bits)</c:v>
                </c:pt>
              </c:strCache>
            </c:strRef>
          </c:tx>
          <c:spPr>
            <a:solidFill>
              <a:srgbClr val="C2483B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48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8-41FF-9FFE-B45BE9C85DD6}"/>
              </c:ext>
            </c:extLst>
          </c:dPt>
          <c:dPt>
            <c:idx val="1"/>
            <c:invertIfNegative val="0"/>
            <c:bubble3D val="0"/>
            <c:spPr>
              <a:solidFill>
                <a:srgbClr val="C248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8-41FF-9FFE-B45BE9C85DD6}"/>
              </c:ext>
            </c:extLst>
          </c:dPt>
          <c:dPt>
            <c:idx val="2"/>
            <c:invertIfNegative val="0"/>
            <c:bubble3D val="0"/>
            <c:spPr>
              <a:solidFill>
                <a:srgbClr val="C248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8-41FF-9FFE-B45BE9C85DD6}"/>
              </c:ext>
            </c:extLst>
          </c:dPt>
          <c:dPt>
            <c:idx val="3"/>
            <c:invertIfNegative val="0"/>
            <c:bubble3D val="0"/>
            <c:spPr>
              <a:solidFill>
                <a:srgbClr val="C248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48-41FF-9FFE-B45BE9C85DD6}"/>
              </c:ext>
            </c:extLst>
          </c:dPt>
          <c:dPt>
            <c:idx val="4"/>
            <c:invertIfNegative val="0"/>
            <c:bubble3D val="0"/>
            <c:spPr>
              <a:solidFill>
                <a:srgbClr val="1E8F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E48-41FF-9FFE-B45BE9C85DD6}"/>
              </c:ext>
            </c:extLst>
          </c:dPt>
          <c:dPt>
            <c:idx val="5"/>
            <c:invertIfNegative val="0"/>
            <c:bubble3D val="0"/>
            <c:spPr>
              <a:solidFill>
                <a:srgbClr val="1E8F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E48-41FF-9FFE-B45BE9C85DD6}"/>
              </c:ext>
            </c:extLst>
          </c:dPt>
          <c:dPt>
            <c:idx val="6"/>
            <c:invertIfNegative val="0"/>
            <c:bubble3D val="0"/>
            <c:spPr>
              <a:solidFill>
                <a:srgbClr val="1E8F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E48-41FF-9FFE-B45BE9C85DD6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X2</c:v>
                </c:pt>
                <c:pt idx="1">
                  <c:v>X5</c:v>
                </c:pt>
                <c:pt idx="2">
                  <c:v>X3</c:v>
                </c:pt>
                <c:pt idx="3">
                  <c:v>X1</c:v>
                </c:pt>
                <c:pt idx="4">
                  <c:v>X6</c:v>
                </c:pt>
                <c:pt idx="5">
                  <c:v>X4</c:v>
                </c:pt>
                <c:pt idx="6">
                  <c:v>X9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-2.76E-2</c:v>
                </c:pt>
                <c:pt idx="1">
                  <c:v>-1.7500000000000002E-2</c:v>
                </c:pt>
                <c:pt idx="2">
                  <c:v>-9.4000000000000004E-3</c:v>
                </c:pt>
                <c:pt idx="3">
                  <c:v>-2.5000000000000001E-3</c:v>
                </c:pt>
                <c:pt idx="4">
                  <c:v>1.5599999999999999E-2</c:v>
                </c:pt>
                <c:pt idx="5">
                  <c:v>6.0999999999999999E-2</c:v>
                </c:pt>
                <c:pt idx="6">
                  <c:v>6.8900000000000003E-2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E48-41FF-9FFE-B45BE9C85D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1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4748B"/>
                    </a:solidFill>
                    <a:latin typeface="Arial"/>
                  </a:rPr>
                  <a:t>bits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2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(20 s). Presentarse brevemente: nombre, curso y el título del trabajo. Indicar que la exposición dura 10 minutos y cubre el pipeline completo hasta la conclusión rVP.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(30 s). Mencionar que son 8 etapas del pipeline en 10 minutos: mostrar rápidamente la lista y pasar a la introducción.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Introducción (45 s). Leer el objetivo en una frase y resaltar los 5 pasos del pipeline. Mencionar que el dataset tiene 1000 filas con variables binarias, ternarias y de 4 categorías.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pipeline (45 s). Recorrer las 4 etapas macro de izquierda a derecha con el diagrama de flujo. Cerrar con la conclusión adelantada para dar contexto de a dónde se dirige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1 - Fusión (45 s). Explicar que I(X7;X8)=1.000 bits significa dependencia total (mismas filas). Mostrar el diagrama de fusión X7+X8 -&gt;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1 - Separación (40 s). Mostrar los conteos Best=502 y Worst=498, y las 7 columnas predictoras conservadas (x1..x6, x9).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3 - Matriz IM (60 s). Señalar los pares resaltados en ámbar (&gt;=0.4 bits): X1-X5, X2-X5, X4-X9, X6-X9. Explicar que son el esqueleto de dependencia, igual en Best y Worst.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3 - MST (70 s). Explicar el diagrama de red: dos clusters (X4-X9-X6 y X1-X5-X2) unidos por un enlace débil X9-X5, con X3 casi aislado. Mencionar que Kruskal y Prim coinciden en el mismo árbol.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4 - Comparación (60 s). Mostrar el gráfico de barras ordenado: X9 y X4 (verdes, mayor en Best), X2 (rojo, mayor en Worst) superan el umbral de 0.02 bits; el resto es prácticamente neutro.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5 - Hallazgo (55 s). Explicar la tabla de codificación X9=2*X4+X6 y el 100% de coincidencia verificado sobre los datos. Este hallazgo no estaba en el enunciado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 rVP (45 s). Recorrer el embudo 9-&gt;8-&gt;7-&gt;6 variables, remarcando las dos reducciones seguras confirmadas por redundancia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 (45 s). Resumir el resultado final: 6 variables + Y aseguradas, y 4 variables (X1,X3,X5,X6) como reducción opcional evaluable por baja discriminancia.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(30 s). Agradecer y dejar el repositorio disponible para preguntas. Recordar el mensaje central: de 9 variables se llega a un núcleo de 6, con 2 reducciones confirmadas (X8, X9) y una opcional evaluable.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DEL ALTIPLANO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Mecánica Eléctrica, Electrónica y Sistemas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C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Profesional de Ingeniería de Sistemas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21680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Dataset W/B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94360" y="3520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 / Prim </a:t>
            </a:r>
            <a:r>
              <a:rPr lang="en-US" sz="2600" dirty="0">
                <a:solidFill>
                  <a:srgbClr val="9FB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rVP (Reducción de Variables)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" y="42519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 mutua y reducción de variables sobre d9_strong.csv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0749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920240" y="5074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Nina Mildward Erik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5404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20240" y="54041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Programación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57332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920240" y="5733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Juárez Ruelas José Luis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60624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920240" y="60624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Puno, Julio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exposición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 •  8 etapas del pipeline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70432" y="15910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objetivo del análisis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304288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22494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pipeline (4 etapas macro)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0432" y="29077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Fusión X7 ≡ X8 → 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621024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70432" y="3566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Separación por clase Best / Worst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279392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70432" y="42245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Matriz de Información Mutua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309360" y="1645920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0936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39712" y="15910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Árbol de Máximo Peso (Kruskal / Prim)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2304288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09360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39712" y="22494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Comparación ΣA − ΣB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309360" y="2962656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0936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39712" y="29077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— Hallazgo: X9 = 2·X4 + X6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309360" y="3621024"/>
            <a:ext cx="384048" cy="384048"/>
          </a:xfrm>
          <a:prstGeom prst="ellipse">
            <a:avLst/>
          </a:prstGeom>
          <a:solidFill>
            <a:srgbClr val="0A5A62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30936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839712" y="3566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— Reducción de Variables (rVP)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análisis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6179" y="1371600"/>
            <a:ext cx="649224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cuántas variables </a:t>
            </a:r>
            <a:r>
              <a:rPr lang="en-US" sz="15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conjunto original (X1–X9) son redundantes o prescindibles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aplicando un pipeline de: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72491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5694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variables totalmente dependientes (I = 1.000 bits)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3832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32278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dataset por clase: Best (Y=1) y Worst (Y=0)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0416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3886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Información Mutua (IM)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todos los pares de variables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70001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4544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Máximo Peso (MST)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Kruskal y Prim, por subconjunto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3583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52029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matriz de </a:t>
            </a:r>
            <a:r>
              <a:rPr lang="en-US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1417320"/>
            <a:ext cx="4389120" cy="4800600"/>
          </a:xfrm>
          <a:prstGeom prst="roundRect">
            <a:avLst>
              <a:gd name="adj" fmla="val 1875"/>
            </a:avLst>
          </a:prstGeom>
          <a:solidFill>
            <a:srgbClr val="0B1E3D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75895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58952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discretas (x1–x9)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4617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828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x1, x2, x4, x6, x7, x8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5074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98280" y="5074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x3, x5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5532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categorías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98280" y="5532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pipeline — 4 etapas macro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40764" y="1655064"/>
            <a:ext cx="621792" cy="621792"/>
          </a:xfrm>
          <a:prstGeom prst="ellipse">
            <a:avLst/>
          </a:prstGeom>
          <a:solidFill>
            <a:srgbClr val="0B1E3D"/>
          </a:solidFill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40764" y="16550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2468880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2461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X7≡X8 → 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4023360"/>
            <a:ext cx="2276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I(X7;X8)≈1.000 bits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total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338328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0712" y="19659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402836" y="1655064"/>
            <a:ext cx="621792" cy="621792"/>
          </a:xfrm>
          <a:prstGeom prst="ellipse">
            <a:avLst/>
          </a:prstGeom>
          <a:solidFill>
            <a:srgbClr val="0B1E3D"/>
          </a:solidFill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02836" y="16550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2468880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75304" y="32461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por clase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575304" y="4023360"/>
            <a:ext cx="2276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(Y=1): 502 filas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(Y=0): 498 filas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383280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72784" y="19659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7264908" y="1655064"/>
            <a:ext cx="621792" cy="621792"/>
          </a:xfrm>
          <a:prstGeom prst="ellipse">
            <a:avLst/>
          </a:prstGeom>
          <a:solidFill>
            <a:srgbClr val="0B1E3D"/>
          </a:solidFill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264908" y="16550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196" y="2468880"/>
            <a:ext cx="585216" cy="585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37376" y="32461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IM + MST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437376" y="4023360"/>
            <a:ext cx="2276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y Prim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subconjunto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3383280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34856" y="19659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10126980" y="1655064"/>
            <a:ext cx="621792" cy="621792"/>
          </a:xfrm>
          <a:prstGeom prst="ellipse">
            <a:avLst/>
          </a:prstGeom>
          <a:solidFill>
            <a:srgbClr val="0B1E3D"/>
          </a:solidFill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10126980" y="16550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5268" y="2468880"/>
            <a:ext cx="585216" cy="58521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99448" y="32461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ΣA−ΣB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9299448" y="4023360"/>
            <a:ext cx="2276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FF6F7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/>
          <p:nvPr/>
        </p:nvSpPr>
        <p:spPr>
          <a:xfrm>
            <a:off x="822960" y="555955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adelantada: 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reduce el dataset de 9 variables originales a un núcleo mínimo de 6 predictoras no redundantes, eliminando X8 (fusionada en Y) y X9 (derivada de X4 y X6).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ETAPA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Fusión de X7 y X8 en 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9346"/>
            <a:ext cx="603504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Anteriormente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demostró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I(X7;X8) = 1.000 bits: dependencia total entre ambas columnas. La verificación directa sobre d9_strong.csv (1000 filas) lo confirma: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803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788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I(X7;X8) ≈ 0.9999 bits (≈ 1.000 bits) sobre las 1000 filas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57600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X7 y X8 son idénticas fila a fila — coincidencia del 100%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43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se fusionan en una única variable binaria Y ∈ {0,1}, con Y = X7 = X8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68680" y="5257800"/>
            <a:ext cx="5394960" cy="731520"/>
          </a:xfrm>
          <a:prstGeom prst="roundRect">
            <a:avLst>
              <a:gd name="adj" fmla="val 11250"/>
            </a:avLst>
          </a:prstGeom>
          <a:solidFill>
            <a:srgbClr val="FDF4E3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097280" y="5257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variables → 8 columnas efectivas (7 predictoras + etiqueta Y)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858000" y="1463040"/>
            <a:ext cx="4800600" cy="4754880"/>
          </a:xfrm>
          <a:prstGeom prst="roundRect">
            <a:avLst>
              <a:gd name="adj" fmla="val 1731"/>
            </a:avLst>
          </a:prstGeom>
          <a:solidFill>
            <a:srgbClr val="0B1E3D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1323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VISUAL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0" y="2331720"/>
            <a:ext cx="1463040" cy="1463040"/>
          </a:xfrm>
          <a:prstGeom prst="ellipse">
            <a:avLst/>
          </a:prstGeom>
          <a:solidFill>
            <a:srgbClr val="0A5A62"/>
          </a:solidFill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315200" y="2331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X7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9235440" y="2331720"/>
            <a:ext cx="1463040" cy="1463040"/>
          </a:xfrm>
          <a:prstGeom prst="ellipse">
            <a:avLst/>
          </a:prstGeom>
          <a:solidFill>
            <a:srgbClr val="0A5A62"/>
          </a:solidFill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235440" y="2331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X8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8778240" y="3063240"/>
            <a:ext cx="45720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955280" y="3127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1.000 bits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46720" y="3794760"/>
            <a:ext cx="0" cy="50292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966960" y="3794760"/>
            <a:ext cx="0" cy="50292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977640"/>
            <a:ext cx="365760" cy="3657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275320" y="4434840"/>
            <a:ext cx="1463040" cy="14630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275320" y="4434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71323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X7 = X8  ∈ {0,1}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ETAPA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Separación por clase y generación de CSV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la variable fusionada Y como criterio de partición del dataset completo (1000 filas):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EFF9F3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 →  d9_strong_b.csv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697480"/>
            <a:ext cx="822960" cy="822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196596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BEFEE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4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3796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24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498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537960" y="3566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 →  d9_strong_w.csv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2697480"/>
            <a:ext cx="822960" cy="8229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6868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conservadas en ambos subconjuntos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68680" y="516636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68680" y="51663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828800" y="516636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828800" y="51663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2788920" y="516636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788920" y="51663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X3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3749040" y="516636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749040" y="51663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4709160" y="516636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709160" y="51663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X5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5669280" y="516636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669280" y="51663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X6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6629400" y="516636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629400" y="51663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X9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X7 y X8 se descartan como columnas independientes: ya están representadas por Y.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ETAPA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Información Mutua (bits) — Best vs Worst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(Y = 1)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202936" cy="248716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0.4150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0.6555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0.0039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0.0054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0.7475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0.4150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0.6555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0.0095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0.0162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0.0039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0.0095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0.9974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0.0054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0.7475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0.0162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0.9974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(Y = 0)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202936" cy="248716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0.4237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0.0029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0.6869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0.6860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0.4237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0.6869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0.9998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0.0029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0.6860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</a:rPr>
                        <a:t>0.0069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</a:rPr>
                        <a:t>0.9998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4"/>
          <p:cNvSpPr/>
          <p:nvPr/>
        </p:nvSpPr>
        <p:spPr>
          <a:xfrm>
            <a:off x="548640" y="56235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EFF6F7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57424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pares (X6,X9), (X4,X9), (X2,X5) y (X1,X5) concentran la mayor Información Mutua (≥0.4 bits, resaltado en ámbar) en ambos subconjuntos — son el “esqueleto” de dependencia del dataset.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ETAPA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Máximo Peso — Kruskal y Prim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algoritmos, aplicados sobre la matriz IM de cada subconjunto, arrojan el mismo árbol de máximo peso (MST) — resultado teóricamente esperado — confirmando la consistencia del cálculo.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492240" cy="4389120"/>
          </a:xfrm>
          <a:prstGeom prst="roundRect">
            <a:avLst>
              <a:gd name="adj" fmla="val 1875"/>
            </a:avLst>
          </a:prstGeom>
          <a:solidFill>
            <a:srgbClr val="0B1E3D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ESTRUCTURAL (idéntico en Best y Worst)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72184" y="3218688"/>
            <a:ext cx="0" cy="576072"/>
          </a:xfrm>
          <a:prstGeom prst="line">
            <a:avLst/>
          </a:prstGeom>
          <a:noFill/>
          <a:ln w="3492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14984" y="3268980"/>
            <a:ext cx="1188720" cy="256032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 / 0.686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72184" y="4361688"/>
            <a:ext cx="0" cy="576072"/>
          </a:xfrm>
          <a:prstGeom prst="line">
            <a:avLst/>
          </a:prstGeom>
          <a:noFill/>
          <a:ln w="3492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4984" y="4686300"/>
            <a:ext cx="1188720" cy="256032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 / 1.000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78424" y="3218688"/>
            <a:ext cx="0" cy="576072"/>
          </a:xfrm>
          <a:prstGeom prst="line">
            <a:avLst/>
          </a:prstGeom>
          <a:noFill/>
          <a:ln w="3492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21224" y="3268980"/>
            <a:ext cx="1188720" cy="256032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0.415 / 0.424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78424" y="4361688"/>
            <a:ext cx="0" cy="576072"/>
          </a:xfrm>
          <a:prstGeom prst="line">
            <a:avLst/>
          </a:prstGeom>
          <a:noFill/>
          <a:ln w="3492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21224" y="4686300"/>
            <a:ext cx="1188720" cy="256032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 / 0.687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55648" y="4078224"/>
            <a:ext cx="3639312" cy="0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34640" y="3621024"/>
            <a:ext cx="1188720" cy="256032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≈0.01 (débil)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55648" y="4248302"/>
            <a:ext cx="1819656" cy="1009498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8720" y="2651760"/>
            <a:ext cx="566928" cy="566928"/>
          </a:xfrm>
          <a:prstGeom prst="ellipse">
            <a:avLst/>
          </a:prstGeom>
          <a:solidFill>
            <a:srgbClr val="0A5A62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8720" y="3794760"/>
            <a:ext cx="566928" cy="56692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4937760"/>
            <a:ext cx="566928" cy="566928"/>
          </a:xfrm>
          <a:prstGeom prst="ellipse">
            <a:avLst/>
          </a:prstGeom>
          <a:solidFill>
            <a:srgbClr val="0A5A62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872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2651760"/>
            <a:ext cx="566928" cy="566928"/>
          </a:xfrm>
          <a:prstGeom prst="ellipse">
            <a:avLst/>
          </a:prstGeom>
          <a:solidFill>
            <a:srgbClr val="0A5A62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94960" y="3794760"/>
            <a:ext cx="566928" cy="56692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94960" y="4937760"/>
            <a:ext cx="566928" cy="566928"/>
          </a:xfrm>
          <a:prstGeom prst="ellipse">
            <a:avLst/>
          </a:prstGeom>
          <a:solidFill>
            <a:srgbClr val="0A5A62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5257800"/>
            <a:ext cx="566928" cy="566928"/>
          </a:xfrm>
          <a:prstGeom prst="ellipse">
            <a:avLst/>
          </a:prstGeom>
          <a:solidFill>
            <a:srgbClr val="0A5A62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5257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3799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" y="6080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Worst (bits)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69480" y="2011680"/>
            <a:ext cx="4389120" cy="1965960"/>
          </a:xfrm>
          <a:prstGeom prst="roundRect">
            <a:avLst>
              <a:gd name="adj" fmla="val 4186"/>
            </a:avLst>
          </a:prstGeom>
          <a:solidFill>
            <a:srgbClr val="EFF6F7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4380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TOTAL DEL MST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43800" y="2487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Best: 2.8337 bits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438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Worst: 2.8092 bits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43800" y="33375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≈ 0.025 bits — estructuralmente equivalentes.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69480" y="4114800"/>
            <a:ext cx="43891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43800" y="4279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DIFERENCIA: LA ARISTA MÁS DÉBIL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43800" y="4617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– X3  (0.0022 bits)
</a:t>
            </a:r>
            <a:r>
              <a:rPr lang="en-US" sz="1250" b="1" dirty="0">
                <a:solidFill>
                  <a:srgbClr val="C2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– X9  (0.0058 bits)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43800" y="53492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≈ 0.002–0.006 bits: prácticamente ruido. La estructura de dependencia NO cambia entre clases; solo varía un enlace irrelevante ligado a X3.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ETAPA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ΣA (Best) − ΣB (Worst) por variable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suma la IM de cada variable con el resto (ΣA, ΣB) y se calcula la diferencia entre clases.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65836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965960"/>
            <a:ext cx="4343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DISCRIMINANCIA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orientativo: |Δ| ≥ 0.02 bits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529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X9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21040" y="28529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+0.0689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46920" y="2852928"/>
            <a:ext cx="1920240" cy="365760"/>
          </a:xfrm>
          <a:prstGeom prst="rect">
            <a:avLst/>
          </a:prstGeom>
          <a:solidFill>
            <a:srgbClr val="0A5A6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discrimina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32735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21040" y="32735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+0.0610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46920" y="3273552"/>
            <a:ext cx="1920240" cy="365760"/>
          </a:xfrm>
          <a:prstGeom prst="rect">
            <a:avLst/>
          </a:prstGeom>
          <a:solidFill>
            <a:srgbClr val="0A5A6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discrimina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0" y="36941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21040" y="36941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−0.0276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46920" y="3694176"/>
            <a:ext cx="1920240" cy="365760"/>
          </a:xfrm>
          <a:prstGeom prst="rect">
            <a:avLst/>
          </a:prstGeom>
          <a:solidFill>
            <a:srgbClr val="0A5A6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discrimina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8952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104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−0.0175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64692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(≈0)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453542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21040" y="45354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+0.0156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646920" y="45354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(≈0)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89520" y="4956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21040" y="49560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−0.0094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646920" y="49560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(≈0)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89520" y="53766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321040" y="53766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−0.0025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646920" y="53766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(≈0)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ETAPA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 adicional de redundancia: X9 = f(X4, X6)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9224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mencionado explícitamente en el enunciado original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construir la matriz IM se observó una dependencia total adicional entre X9 y el par (X4, X6):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15568" y="2953512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I(X9;X6) ≈ 0.997–1.000 bits en ambos subconjuntos (dependencia prácticamente total)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82219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15568" y="3666744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contingencia confirma: X9 = 2·X4 + X6, exactamente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53542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15568" y="437997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 ∈ {0,1,2,3} es una codificación determinista del par binario (X4, X6)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5440680"/>
            <a:ext cx="5852160" cy="640080"/>
          </a:xfrm>
          <a:prstGeom prst="roundRect">
            <a:avLst>
              <a:gd name="adj" fmla="val 12857"/>
            </a:avLst>
          </a:prstGeom>
          <a:solidFill>
            <a:srgbClr val="FDEBC8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97280" y="54406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 no aporta información nueva </a:t>
            </a:r>
            <a:r>
              <a:rPr lang="en-US" sz="12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respecto de {X4, X6}: es redundante, igual que ocurrió con X7/X8.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69480" y="1463040"/>
            <a:ext cx="4389120" cy="4754880"/>
          </a:xfrm>
          <a:prstGeom prst="roundRect">
            <a:avLst>
              <a:gd name="adj" fmla="val 1875"/>
            </a:avLst>
          </a:prstGeom>
          <a:solidFill>
            <a:srgbClr val="0B1E3D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438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CODIFICACIÓN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057400"/>
          <a:ext cx="3931920" cy="2286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X4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X6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2·X4+X6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X9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543800" y="4617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SOBRE LOS DATOS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543800" y="4892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4200" dirty="0"/>
          </a:p>
        </p:txBody>
      </p:sp>
      <p:sp>
        <p:nvSpPr>
          <p:cNvPr id="21" name="Text 17"/>
          <p:cNvSpPr/>
          <p:nvPr/>
        </p:nvSpPr>
        <p:spPr>
          <a:xfrm>
            <a:off x="7543800" y="5623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coincidencia entre X9 observado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2·X4+X6, en Best + Worst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Variables (rVP) — síntesis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9052"/>
            <a:ext cx="585216" cy="585216"/>
          </a:xfrm>
          <a:prstGeom prst="ellipse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90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... X9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4128" y="2286000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FF9F3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592324"/>
            <a:ext cx="585216" cy="585216"/>
          </a:xfrm>
          <a:prstGeom prst="ellipse">
            <a:avLst/>
          </a:prstGeom>
          <a:solidFill>
            <a:srgbClr val="1E8F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59232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25420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X7≡X8 → 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5420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variable (redundancia total, I=1.000 bits)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24128" y="3319272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FF9F3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625596"/>
            <a:ext cx="585216" cy="585216"/>
          </a:xfrm>
          <a:prstGeom prst="ellipse">
            <a:avLst/>
          </a:prstGeom>
          <a:solidFill>
            <a:srgbClr val="1E8F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6255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57530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 = 2·X4+X6 → eliminado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57530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variable (codificación determinista, 100% match)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24128" y="4352544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517136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DEBC8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658868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6588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54480" y="46085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mínimo no redundante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60857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{X1, X2, X3, X4, X5, X6} + etiqueta 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SÍNTESIS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final y reducción opcional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663440"/>
          </a:xfrm>
          <a:prstGeom prst="roundRect">
            <a:avLst>
              <a:gd name="adj" fmla="val 1765"/>
            </a:avLst>
          </a:prstGeom>
          <a:solidFill>
            <a:srgbClr val="13294B"/>
          </a:solidFill>
          <a:ln w="12700">
            <a:solidFill>
              <a:srgbClr val="2A3D6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Reducciones seguras y confirmadas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</a:t>
            </a: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fusionada en Y (I=1.000 bits)
</a:t>
            </a: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</a:t>
            </a: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derivada de X4 y X6 (100% determinista)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337560"/>
            <a:ext cx="4754880" cy="0"/>
          </a:xfrm>
          <a:prstGeom prst="line">
            <a:avLst/>
          </a:prstGeom>
          <a:noFill/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6 variables predictoras + 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3977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645920" y="3977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645920" y="3977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23160" y="3977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23160" y="3977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0" y="3977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0" y="3977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977640" y="3977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977640" y="3977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X5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54880" y="3977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0" y="3977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868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estructural idéntico en Best y Worst confirma que la reducción no distorsiona la relación entre variables.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80760" y="1508760"/>
            <a:ext cx="5577840" cy="4663440"/>
          </a:xfrm>
          <a:prstGeom prst="roundRect">
            <a:avLst>
              <a:gd name="adj" fmla="val 1765"/>
            </a:avLst>
          </a:prstGeom>
          <a:solidFill>
            <a:srgbClr val="13294B"/>
          </a:solidFill>
          <a:ln w="12700">
            <a:solidFill>
              <a:srgbClr val="2A3D6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3736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951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adicional opcional (baja discriminancia)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40080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umbral |ΔΣ| &lt; 0.02 bits, resultan casi invariantes entre clases: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00800" y="2834640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400800" y="2834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269480" y="2834640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269480" y="2834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X3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8138160" y="2834640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8138160" y="2834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X5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9006840" y="2834640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9006840" y="2834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X6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6400800" y="3611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variables aportan escasa capacidad discriminante entre Best y Worst; son candidatas evaluables, sujeto a validación con más datos o un umbral formal de significancia.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400800" y="4617720"/>
            <a:ext cx="4937760" cy="0"/>
          </a:xfrm>
          <a:prstGeom prst="line">
            <a:avLst/>
          </a:prstGeom>
          <a:noFill/>
          <a:ln w="12700">
            <a:solidFill>
              <a:srgbClr val="2A3D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400800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variables → 2 reducciones seguras (X8, X9) → 1 reducción opcional evaluable, dejando un núcleo de 3–4 variables verdaderamente informativas (X2, X4, X5, X9/X6).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88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→ Kruskal / Prim → rVP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Nina Mildward Erik  •  Lenguajes de Programación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8920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48646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github.com/Mildward/Entropia_Dataset_Dividido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Dataset W/B  |  Kruskal / Prim  |  rVP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2137</Words>
  <Application>Microsoft Office PowerPoint</Application>
  <PresentationFormat>Panorámica</PresentationFormat>
  <Paragraphs>411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Dataset W/B -&gt; Kruskal/Prim -&gt; rVP</dc:title>
  <dc:subject>PptxGenJS Presentation</dc:subject>
  <dc:creator>Condori Nina Mildward Erik</dc:creator>
  <cp:lastModifiedBy>EriK CN</cp:lastModifiedBy>
  <cp:revision>2</cp:revision>
  <dcterms:created xsi:type="dcterms:W3CDTF">2026-07-07T01:56:43Z</dcterms:created>
  <dcterms:modified xsi:type="dcterms:W3CDTF">2026-07-07T04:41:14Z</dcterms:modified>
</cp:coreProperties>
</file>